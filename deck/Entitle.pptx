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103120"/>
            <a:ext cx="1554480" cy="15544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3931920"/>
            <a:ext cx="1828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 spc="420" cap="all">
                <a:solidFill>
                  <a:srgbClr val="6B6157"/>
                </a:solidFill>
                <a:latin typeface="Century Gothic"/>
              </a:rPr>
              <a:t>EGOIST AI PASSPORT IDEATHON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526280"/>
            <a:ext cx="182880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600" b="1" i="0" spc="250">
                <a:solidFill>
                  <a:srgbClr val="3D3A3A"/>
                </a:solidFill>
                <a:latin typeface="Century Gothic"/>
              </a:rPr>
              <a:t>ENTITLE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680960" y="6217920"/>
            <a:ext cx="2926080" cy="13716"/>
          </a:xfrm>
          <a:prstGeom prst="rect">
            <a:avLst/>
          </a:prstGeom>
          <a:solidFill>
            <a:srgbClr val="D2C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83680"/>
            <a:ext cx="18288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500" b="0" i="0">
                <a:solidFill>
                  <a:srgbClr val="3D3A3A"/>
                </a:solidFill>
                <a:latin typeface="Century Gothic"/>
              </a:rPr>
              <a:t>Carry the entitlement. </a:t>
            </a:r>
            <a:r>
              <a:rPr sz="2500" b="0" i="0">
                <a:solidFill>
                  <a:srgbClr val="3D3A3A"/>
                </a:solidFill>
                <a:highlight>
                  <a:srgbClr val="EDD9B4"/>
                </a:highlight>
                <a:latin typeface="Century Gothic"/>
              </a:rPr>
              <a:t>Never the diagnosis.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8503920"/>
            <a:ext cx="1828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 spc="320" cap="all">
                <a:solidFill>
                  <a:srgbClr val="6E4E22"/>
                </a:solidFill>
                <a:latin typeface="Century Gothic"/>
              </a:rPr>
              <a:t>TRACK: WORK        ·        LANE: 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4128" y="996696"/>
            <a:ext cx="5166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spc="220" cap="all">
                <a:solidFill>
                  <a:srgbClr val="5F564C"/>
                </a:solidFill>
                <a:latin typeface="Century Gothic"/>
              </a:rPr>
              <a:t>PAGE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88368" y="996696"/>
            <a:ext cx="5166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spc="220" cap="all">
                <a:solidFill>
                  <a:srgbClr val="5F564C"/>
                </a:solidFill>
                <a:latin typeface="Century Gothic"/>
              </a:rPr>
              <a:t>ENTITLE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9491472"/>
            <a:ext cx="5166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spc="220" cap="all">
                <a:solidFill>
                  <a:srgbClr val="5F564C"/>
                </a:solidFill>
                <a:latin typeface="Century Gothic"/>
              </a:rPr>
              <a:t>AI PASSPORT IDEATHON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88368" y="9491472"/>
            <a:ext cx="5166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spc="220" cap="all">
                <a:solidFill>
                  <a:srgbClr val="5F564C"/>
                </a:solidFill>
                <a:latin typeface="Century Gothic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103120"/>
            <a:ext cx="162397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spc="240" cap="all">
                <a:solidFill>
                  <a:srgbClr val="6B6157"/>
                </a:solidFill>
                <a:latin typeface="Century Gothic"/>
              </a:rPr>
              <a:t>01  ·  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523744"/>
            <a:ext cx="1623974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3400" b="1" i="0" spc="-50">
                <a:solidFill>
                  <a:srgbClr val="3D3A3A"/>
                </a:solidFill>
                <a:latin typeface="Century Gothic"/>
              </a:rPr>
              <a:t>FIVE DOORS. ONE UNCHANGED FACT.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3273552"/>
            <a:ext cx="1623974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6B6157"/>
                </a:solidFill>
                <a:latin typeface="Century Gothic"/>
              </a:rPr>
              <a:t>Priya was assessed once, in 2023. She has proved it five times since.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4128" y="4160520"/>
            <a:ext cx="3063240" cy="2514600"/>
          </a:xfrm>
          <a:prstGeom prst="roundRect">
            <a:avLst>
              <a:gd name="adj" fmla="val 3500"/>
            </a:avLst>
          </a:prstGeom>
          <a:solidFill>
            <a:srgbClr val="F8F3EC"/>
          </a:solidFill>
          <a:ln w="12700">
            <a:solidFill>
              <a:srgbClr val="D2C3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8176" y="4526280"/>
            <a:ext cx="22951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spc="100">
                <a:solidFill>
                  <a:srgbClr val="6E4E22"/>
                </a:solidFill>
                <a:latin typeface="Consolas"/>
              </a:rPr>
              <a:t>2023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4919472"/>
            <a:ext cx="22951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 spc="-20">
                <a:solidFill>
                  <a:srgbClr val="3D3A3A"/>
                </a:solidFill>
                <a:latin typeface="Century Gothic"/>
              </a:rPr>
              <a:t>University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08176" y="5559552"/>
            <a:ext cx="2295144" cy="13716"/>
          </a:xfrm>
          <a:prstGeom prst="rect">
            <a:avLst/>
          </a:prstGeom>
          <a:solidFill>
            <a:srgbClr val="D2C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8176" y="5833872"/>
            <a:ext cx="229514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7C4C3A"/>
                </a:solidFill>
                <a:latin typeface="Century Gothic"/>
              </a:rPr>
              <a:t>Full assessment report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7408" y="4160520"/>
            <a:ext cx="3063240" cy="2514600"/>
          </a:xfrm>
          <a:prstGeom prst="roundRect">
            <a:avLst>
              <a:gd name="adj" fmla="val 3500"/>
            </a:avLst>
          </a:prstGeom>
          <a:solidFill>
            <a:srgbClr val="F8F3EC"/>
          </a:solidFill>
          <a:ln w="12700">
            <a:solidFill>
              <a:srgbClr val="D2C3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91456" y="4526280"/>
            <a:ext cx="22951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spc="100">
                <a:solidFill>
                  <a:srgbClr val="6E4E22"/>
                </a:solidFill>
                <a:latin typeface="Consolas"/>
              </a:rPr>
              <a:t>2024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91456" y="4919472"/>
            <a:ext cx="22951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 spc="-20">
                <a:solidFill>
                  <a:srgbClr val="3D3A3A"/>
                </a:solidFill>
                <a:latin typeface="Century Gothic"/>
              </a:rPr>
              <a:t>Internship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91456" y="5559552"/>
            <a:ext cx="2295144" cy="13716"/>
          </a:xfrm>
          <a:prstGeom prst="rect">
            <a:avLst/>
          </a:prstGeom>
          <a:solidFill>
            <a:srgbClr val="D2C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91456" y="5833872"/>
            <a:ext cx="229514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7C4C3A"/>
                </a:solidFill>
                <a:latin typeface="Century Gothic"/>
              </a:rPr>
              <a:t>Doctor's letter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90688" y="4160520"/>
            <a:ext cx="3063240" cy="2514600"/>
          </a:xfrm>
          <a:prstGeom prst="roundRect">
            <a:avLst>
              <a:gd name="adj" fmla="val 3500"/>
            </a:avLst>
          </a:prstGeom>
          <a:solidFill>
            <a:srgbClr val="F8F3EC"/>
          </a:solidFill>
          <a:ln w="12700">
            <a:solidFill>
              <a:srgbClr val="D2C3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74736" y="4526280"/>
            <a:ext cx="22951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spc="100">
                <a:solidFill>
                  <a:srgbClr val="6E4E22"/>
                </a:solidFill>
                <a:latin typeface="Consolas"/>
              </a:rPr>
              <a:t>2025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4736" y="4919472"/>
            <a:ext cx="22951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 spc="-20">
                <a:solidFill>
                  <a:srgbClr val="3D3A3A"/>
                </a:solidFill>
                <a:latin typeface="Century Gothic"/>
              </a:rPr>
              <a:t>Study abroad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74736" y="5559552"/>
            <a:ext cx="2295144" cy="13716"/>
          </a:xfrm>
          <a:prstGeom prst="rect">
            <a:avLst/>
          </a:prstGeom>
          <a:solidFill>
            <a:srgbClr val="D2C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74736" y="5833872"/>
            <a:ext cx="229514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7C4C3A"/>
                </a:solidFill>
                <a:latin typeface="Century Gothic"/>
              </a:rPr>
              <a:t>Diagnosis + medication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73968" y="4160520"/>
            <a:ext cx="3063240" cy="2514600"/>
          </a:xfrm>
          <a:prstGeom prst="roundRect">
            <a:avLst>
              <a:gd name="adj" fmla="val 3500"/>
            </a:avLst>
          </a:prstGeom>
          <a:solidFill>
            <a:srgbClr val="F8F3EC"/>
          </a:solidFill>
          <a:ln w="12700">
            <a:solidFill>
              <a:srgbClr val="D2C3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558016" y="4526280"/>
            <a:ext cx="22951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spc="100">
                <a:solidFill>
                  <a:srgbClr val="6E4E22"/>
                </a:solidFill>
                <a:latin typeface="Consolas"/>
              </a:rPr>
              <a:t>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58016" y="4919472"/>
            <a:ext cx="22951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 spc="-20">
                <a:solidFill>
                  <a:srgbClr val="3D3A3A"/>
                </a:solidFill>
                <a:latin typeface="Century Gothic"/>
              </a:rPr>
              <a:t>Exam board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558016" y="5559552"/>
            <a:ext cx="2295144" cy="13716"/>
          </a:xfrm>
          <a:prstGeom prst="rect">
            <a:avLst/>
          </a:prstGeom>
          <a:solidFill>
            <a:srgbClr val="D2C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558016" y="5833872"/>
            <a:ext cx="229514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7C4C3A"/>
                </a:solidFill>
                <a:latin typeface="Century Gothic"/>
              </a:rPr>
              <a:t>New letter, under 6 months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4557248" y="4160520"/>
            <a:ext cx="3063240" cy="2514600"/>
          </a:xfrm>
          <a:prstGeom prst="roundRect">
            <a:avLst>
              <a:gd name="adj" fmla="val 3500"/>
            </a:avLst>
          </a:prstGeom>
          <a:solidFill>
            <a:srgbClr val="F8F3EC"/>
          </a:solidFill>
          <a:ln w="12700">
            <a:solidFill>
              <a:srgbClr val="D2C3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941296" y="4526280"/>
            <a:ext cx="22951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spc="100">
                <a:solidFill>
                  <a:srgbClr val="6E4E22"/>
                </a:solidFill>
                <a:latin typeface="Consolas"/>
              </a:rPr>
              <a:t>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941296" y="4919472"/>
            <a:ext cx="22951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 spc="-20">
                <a:solidFill>
                  <a:srgbClr val="3D3A3A"/>
                </a:solidFill>
                <a:latin typeface="Century Gothic"/>
              </a:rPr>
              <a:t>Employer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4941296" y="5559552"/>
            <a:ext cx="2295144" cy="13716"/>
          </a:xfrm>
          <a:prstGeom prst="rect">
            <a:avLst/>
          </a:prstGeom>
          <a:solidFill>
            <a:srgbClr val="D2C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941296" y="5833872"/>
            <a:ext cx="229514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7C4C3A"/>
                </a:solidFill>
                <a:latin typeface="Century Gothic"/>
              </a:rPr>
              <a:t>Occupational health referral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" y="7360920"/>
            <a:ext cx="1623974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3D3A3A"/>
                </a:solidFill>
                <a:latin typeface="Century Gothic"/>
              </a:rPr>
              <a:t>Every one of them demanded a </a:t>
            </a:r>
            <a:r>
              <a:rPr sz="1800" b="1" i="0">
                <a:solidFill>
                  <a:srgbClr val="3D3A3A"/>
                </a:solidFill>
                <a:highlight>
                  <a:srgbClr val="EDD9B4"/>
                </a:highlight>
                <a:latin typeface="Century Gothic"/>
              </a:rPr>
              <a:t>medical diagnosis</a:t>
            </a:r>
            <a:r>
              <a:rPr sz="1800" b="0" i="0">
                <a:solidFill>
                  <a:srgbClr val="3D3A3A"/>
                </a:solidFill>
                <a:latin typeface="Century Gothic"/>
              </a:rPr>
              <a:t> to grant a scheduling change.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4128" y="996696"/>
            <a:ext cx="5166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spc="220" cap="all">
                <a:solidFill>
                  <a:srgbClr val="5F564C"/>
                </a:solidFill>
                <a:latin typeface="Century Gothic"/>
              </a:rPr>
              <a:t>PAGE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88368" y="996696"/>
            <a:ext cx="5166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spc="220" cap="all">
                <a:solidFill>
                  <a:srgbClr val="5F564C"/>
                </a:solidFill>
                <a:latin typeface="Century Gothic"/>
              </a:rPr>
              <a:t>ENTITLE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9491472"/>
            <a:ext cx="5166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spc="220" cap="all">
                <a:solidFill>
                  <a:srgbClr val="5F564C"/>
                </a:solidFill>
                <a:latin typeface="Century Gothic"/>
              </a:rPr>
              <a:t>AI PASSPORT IDEATHON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88368" y="9491472"/>
            <a:ext cx="5166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spc="220" cap="all">
                <a:solidFill>
                  <a:srgbClr val="5F564C"/>
                </a:solidFill>
                <a:latin typeface="Century Gothic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103120"/>
            <a:ext cx="162397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spc="240" cap="all">
                <a:solidFill>
                  <a:srgbClr val="6B6157"/>
                </a:solidFill>
                <a:latin typeface="Century Gothic"/>
              </a:rPr>
              <a:t>01  ·  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523744"/>
            <a:ext cx="1623974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3400" b="1" i="0" spc="-50">
                <a:solidFill>
                  <a:srgbClr val="3D3A3A"/>
                </a:solidFill>
                <a:latin typeface="Century Gothic"/>
              </a:rPr>
              <a:t>IT IS NOT MERELY REPETITIVE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3273552"/>
            <a:ext cx="1623974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6B6157"/>
                </a:solidFill>
                <a:latin typeface="Century Gothic"/>
              </a:rPr>
              <a:t>Three harms, none of which more paperwork can fix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4297680"/>
            <a:ext cx="4434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 spc="100">
                <a:solidFill>
                  <a:srgbClr val="6E4E22"/>
                </a:solidFill>
                <a:latin typeface="Consola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4709160"/>
            <a:ext cx="4434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 spc="-30">
                <a:solidFill>
                  <a:srgbClr val="3D3A3A"/>
                </a:solidFill>
                <a:latin typeface="Century Gothic"/>
              </a:rPr>
              <a:t>PERMANENT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128" y="5440680"/>
            <a:ext cx="4434840" cy="20116"/>
          </a:xfrm>
          <a:prstGeom prst="rect">
            <a:avLst/>
          </a:prstGeom>
          <a:solidFill>
            <a:srgbClr val="8A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5760720"/>
            <a:ext cx="4434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3D3A3A"/>
                </a:solidFill>
                <a:latin typeface="Century Gothic"/>
              </a:rPr>
              <a:t>A disclosed diagnosis cannot be untold.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6720840"/>
            <a:ext cx="4434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6B6157"/>
                </a:solidFill>
                <a:latin typeface="Century Gothic"/>
              </a:rPr>
              <a:t>No expiry applies to 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31152" y="4297680"/>
            <a:ext cx="4434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 spc="100">
                <a:solidFill>
                  <a:srgbClr val="6E4E22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1152" y="4709160"/>
            <a:ext cx="4434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 spc="-30">
                <a:solidFill>
                  <a:srgbClr val="3D3A3A"/>
                </a:solidFill>
                <a:latin typeface="Century Gothic"/>
              </a:rPr>
              <a:t>DISPROPORTIONATE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31152" y="5440680"/>
            <a:ext cx="4434840" cy="20116"/>
          </a:xfrm>
          <a:prstGeom prst="rect">
            <a:avLst/>
          </a:prstGeom>
          <a:solidFill>
            <a:srgbClr val="8A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31152" y="5760720"/>
            <a:ext cx="4434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3D3A3A"/>
                </a:solidFill>
                <a:latin typeface="Century Gothic"/>
              </a:rPr>
              <a:t>The ask always exceeds the need.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31152" y="6720840"/>
            <a:ext cx="4434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6B6157"/>
                </a:solidFill>
                <a:latin typeface="Century Gothic"/>
              </a:rPr>
              <a:t>An exam board receives a medical history to grant extra time.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29032" y="4297680"/>
            <a:ext cx="4434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 spc="100">
                <a:solidFill>
                  <a:srgbClr val="6E4E22"/>
                </a:solidFill>
                <a:latin typeface="Consola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29032" y="4709160"/>
            <a:ext cx="4434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 spc="-30">
                <a:solidFill>
                  <a:srgbClr val="3D3A3A"/>
                </a:solidFill>
                <a:latin typeface="Century Gothic"/>
              </a:rPr>
              <a:t>CORRELATING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829032" y="5440680"/>
            <a:ext cx="4434840" cy="20116"/>
          </a:xfrm>
          <a:prstGeom prst="rect">
            <a:avLst/>
          </a:prstGeom>
          <a:solidFill>
            <a:srgbClr val="8A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29032" y="5760720"/>
            <a:ext cx="4434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3D3A3A"/>
                </a:solidFill>
                <a:latin typeface="Century Gothic"/>
              </a:rPr>
              <a:t>The pattern itself leaks.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29032" y="6720840"/>
            <a:ext cx="4434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6B6157"/>
                </a:solidFill>
                <a:latin typeface="Century Gothic"/>
              </a:rPr>
              <a:t>A fresh letter reveals she has asked elsewhere.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4128" y="996696"/>
            <a:ext cx="5166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spc="220" cap="all">
                <a:solidFill>
                  <a:srgbClr val="A0968B"/>
                </a:solidFill>
                <a:latin typeface="Century Gothic"/>
              </a:rPr>
              <a:t>PAGE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88368" y="996696"/>
            <a:ext cx="5166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spc="220" cap="all">
                <a:solidFill>
                  <a:srgbClr val="A0968B"/>
                </a:solidFill>
                <a:latin typeface="Century Gothic"/>
              </a:rPr>
              <a:t>ENTITLE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9491472"/>
            <a:ext cx="5166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spc="220" cap="all">
                <a:solidFill>
                  <a:srgbClr val="A0968B"/>
                </a:solidFill>
                <a:latin typeface="Century Gothic"/>
              </a:rPr>
              <a:t>AI PASSPORT IDEATHON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88368" y="9491472"/>
            <a:ext cx="5166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spc="220" cap="all">
                <a:solidFill>
                  <a:srgbClr val="A0968B"/>
                </a:solidFill>
                <a:latin typeface="Century Gothic"/>
              </a:rPr>
              <a:t>The 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3108960"/>
            <a:ext cx="162397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spc="240" cap="all">
                <a:solidFill>
                  <a:srgbClr val="C99C5C"/>
                </a:solidFill>
                <a:latin typeface="Century Gothic"/>
              </a:rPr>
              <a:t>02  ·  THE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3657600"/>
            <a:ext cx="155448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6000" b="1" i="0" spc="-140">
                <a:solidFill>
                  <a:srgbClr val="EFE6DC"/>
                </a:solidFill>
                <a:latin typeface="Century Gothic"/>
              </a:rPr>
              <a:t>CARRY THE ENTITLEMENT.</a:t>
            </a:r>
          </a:p>
          <a:p>
            <a:pPr algn="l">
              <a:lnSpc>
                <a:spcPct val="106000"/>
              </a:lnSpc>
            </a:pPr>
            <a:r>
              <a:rPr sz="6000" b="1" i="0" spc="-140">
                <a:solidFill>
                  <a:srgbClr val="EFE6DC"/>
                </a:solidFill>
                <a:latin typeface="Century Gothic"/>
              </a:rPr>
              <a:t>SEAL THE </a:t>
            </a:r>
            <a:r>
              <a:rPr sz="6000" b="1" i="0" spc="-140">
                <a:solidFill>
                  <a:srgbClr val="C99C5C"/>
                </a:solidFill>
                <a:highlight>
                  <a:srgbClr val="4A3A22"/>
                </a:highlight>
                <a:latin typeface="Century Gothic"/>
              </a:rPr>
              <a:t>DIAGNOSIS</a:t>
            </a:r>
            <a:r>
              <a:rPr sz="6000" b="1" i="0" spc="-140">
                <a:solidFill>
                  <a:srgbClr val="EFE6DC"/>
                </a:solidFill>
                <a:latin typeface="Century Gothic"/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24128" y="6355080"/>
            <a:ext cx="2926080" cy="22860"/>
          </a:xfrm>
          <a:prstGeom prst="rect">
            <a:avLst/>
          </a:prstGeom>
          <a:solidFill>
            <a:srgbClr val="C99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6812280"/>
            <a:ext cx="15087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900" b="0" i="0">
                <a:solidFill>
                  <a:srgbClr val="C4BAAE"/>
                </a:solidFill>
                <a:latin typeface="Century Gothic"/>
              </a:rPr>
              <a:t>One assessment becomes named fields the person holds. Institutions request exact fields, state a purpose and a duration, and receive only what she grants.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4128" y="996696"/>
            <a:ext cx="5166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spc="220" cap="all">
                <a:solidFill>
                  <a:srgbClr val="5F564C"/>
                </a:solidFill>
                <a:latin typeface="Century Gothic"/>
              </a:rPr>
              <a:t>PAGE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88368" y="996696"/>
            <a:ext cx="5166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spc="220" cap="all">
                <a:solidFill>
                  <a:srgbClr val="5F564C"/>
                </a:solidFill>
                <a:latin typeface="Century Gothic"/>
              </a:rPr>
              <a:t>ENTITLE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9491472"/>
            <a:ext cx="5166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spc="220" cap="all">
                <a:solidFill>
                  <a:srgbClr val="5F564C"/>
                </a:solidFill>
                <a:latin typeface="Century Gothic"/>
              </a:rPr>
              <a:t>AI PASSPORT IDEATHON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88368" y="9491472"/>
            <a:ext cx="5166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spc="220" cap="all">
                <a:solidFill>
                  <a:srgbClr val="5F564C"/>
                </a:solidFill>
                <a:latin typeface="Century Gothic"/>
              </a:rPr>
              <a:t>The mechanism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011680"/>
            <a:ext cx="162397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spc="240" cap="all">
                <a:solidFill>
                  <a:srgbClr val="6B6157"/>
                </a:solidFill>
                <a:latin typeface="Century Gothic"/>
              </a:rPr>
              <a:t>03  ·  The mechanism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432304"/>
            <a:ext cx="1623974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3400" b="1" i="0" spc="-50">
                <a:solidFill>
                  <a:srgbClr val="3D3A3A"/>
                </a:solidFill>
                <a:latin typeface="Century Gothic"/>
              </a:rPr>
              <a:t>WHAT TRAVELS, AND WHAT NEVER CAN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3182112"/>
            <a:ext cx="1623974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6B6157"/>
                </a:solidFill>
                <a:latin typeface="Century Gothic"/>
              </a:rPr>
              <a:t>The column on the right is the product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4128" y="4114800"/>
            <a:ext cx="7772400" cy="4297680"/>
          </a:xfrm>
          <a:prstGeom prst="roundRect">
            <a:avLst>
              <a:gd name="adj" fmla="val 3500"/>
            </a:avLst>
          </a:prstGeom>
          <a:solidFill>
            <a:srgbClr val="F8F3EC"/>
          </a:solidFill>
          <a:ln w="12700">
            <a:solidFill>
              <a:srgbClr val="8A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72768" y="4526280"/>
            <a:ext cx="6675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 cap="all">
                <a:solidFill>
                  <a:srgbClr val="6E4E22"/>
                </a:solidFill>
                <a:latin typeface="Century Gothic"/>
              </a:rPr>
              <a:t>NORTHFIELD RECEIVED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507492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6E4E22"/>
                </a:solidFill>
                <a:latin typeface="Century Gothic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9968" y="5074920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3D3A3A"/>
                </a:solidFill>
                <a:latin typeface="Consolas"/>
              </a:rPr>
              <a:t>extra_time:  1.5x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5641848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6E4E22"/>
                </a:solidFill>
                <a:latin typeface="Century Gothic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29968" y="5641848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3D3A3A"/>
                </a:solidFill>
                <a:latin typeface="Consolas"/>
              </a:rPr>
              <a:t>flexible_start:  true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6208776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6E4E22"/>
                </a:solidFill>
                <a:latin typeface="Century Gothic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29968" y="6208776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3D3A3A"/>
                </a:solidFill>
                <a:latin typeface="Consolas"/>
              </a:rPr>
              <a:t>verified_by:  assessor class 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6775704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6E4E22"/>
                </a:solidFill>
                <a:latin typeface="Century Gothic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29968" y="6775704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3D3A3A"/>
                </a:solidFill>
                <a:latin typeface="Consolas"/>
              </a:rPr>
              <a:t>expires:  on decision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72768" y="7543800"/>
            <a:ext cx="6675120" cy="13716"/>
          </a:xfrm>
          <a:prstGeom prst="rect">
            <a:avLst/>
          </a:prstGeom>
          <a:solidFill>
            <a:srgbClr val="D2C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72768" y="7772400"/>
            <a:ext cx="6675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6B6157"/>
                </a:solidFill>
                <a:latin typeface="Century Gothic"/>
              </a:rPr>
              <a:t>Enough to schedule the interview.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45168" y="4114800"/>
            <a:ext cx="7918703" cy="4297680"/>
          </a:xfrm>
          <a:prstGeom prst="roundRect">
            <a:avLst>
              <a:gd name="adj" fmla="val 3500"/>
            </a:avLst>
          </a:prstGeom>
          <a:solidFill>
            <a:srgbClr val="242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93808" y="4526280"/>
            <a:ext cx="682142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 cap="all">
                <a:solidFill>
                  <a:srgbClr val="B0A599"/>
                </a:solidFill>
                <a:latin typeface="Century Gothic"/>
              </a:rPr>
              <a:t>NORTHFIELD DID NOT RECEIVE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93808" y="502920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7A7268"/>
                </a:solidFill>
                <a:latin typeface="Century Gothic"/>
              </a:rPr>
              <a:t>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51008" y="5029200"/>
            <a:ext cx="627278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B8ADA1"/>
                </a:solidFill>
                <a:latin typeface="Consolas"/>
              </a:rPr>
              <a:t>diagnosis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93808" y="539496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7A7268"/>
                </a:solidFill>
                <a:latin typeface="Century Gothic"/>
              </a:rPr>
              <a:t>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51008" y="5394960"/>
            <a:ext cx="627278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B8ADA1"/>
                </a:solidFill>
                <a:latin typeface="Consolas"/>
              </a:rPr>
              <a:t>condition name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93808" y="576072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7A7268"/>
                </a:solidFill>
                <a:latin typeface="Century Gothic"/>
              </a:rPr>
              <a:t>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51008" y="5760720"/>
            <a:ext cx="627278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B8ADA1"/>
                </a:solidFill>
                <a:latin typeface="Consolas"/>
              </a:rPr>
              <a:t>medication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93808" y="612648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7A7268"/>
                </a:solidFill>
                <a:latin typeface="Century Gothic"/>
              </a:rPr>
              <a:t>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51008" y="6126480"/>
            <a:ext cx="627278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B8ADA1"/>
                </a:solidFill>
                <a:latin typeface="Consolas"/>
              </a:rPr>
              <a:t>clinician identity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93808" y="649224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7A7268"/>
                </a:solidFill>
                <a:latin typeface="Century Gothic"/>
              </a:rPr>
              <a:t>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51008" y="6492240"/>
            <a:ext cx="627278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B8ADA1"/>
                </a:solidFill>
                <a:latin typeface="Consolas"/>
              </a:rPr>
              <a:t>severity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93808" y="685800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7A7268"/>
                </a:solidFill>
                <a:latin typeface="Century Gothic"/>
              </a:rPr>
              <a:t>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51008" y="6858000"/>
            <a:ext cx="627278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B8ADA1"/>
                </a:solidFill>
                <a:latin typeface="Consolas"/>
              </a:rPr>
              <a:t>medical history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93808" y="722376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7A7268"/>
                </a:solidFill>
                <a:latin typeface="Century Gothic"/>
              </a:rPr>
              <a:t>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51008" y="7223760"/>
            <a:ext cx="627278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B8ADA1"/>
                </a:solidFill>
                <a:latin typeface="Consolas"/>
              </a:rPr>
              <a:t>assessment report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93808" y="7699248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C99C5C"/>
                </a:solidFill>
                <a:latin typeface="Century Gothic"/>
              </a:rPr>
              <a:t>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51008" y="7662672"/>
            <a:ext cx="627278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99C5C"/>
                </a:solidFill>
                <a:highlight>
                  <a:srgbClr val="4A3A22"/>
                </a:highlight>
                <a:latin typeface="Consolas"/>
              </a:rPr>
              <a:t>that she asked anyone else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4128" y="996696"/>
            <a:ext cx="5166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spc="220" cap="all">
                <a:solidFill>
                  <a:srgbClr val="5F564C"/>
                </a:solidFill>
                <a:latin typeface="Century Gothic"/>
              </a:rPr>
              <a:t>PAGE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88368" y="996696"/>
            <a:ext cx="5166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spc="220" cap="all">
                <a:solidFill>
                  <a:srgbClr val="5F564C"/>
                </a:solidFill>
                <a:latin typeface="Century Gothic"/>
              </a:rPr>
              <a:t>ENTITLE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9491472"/>
            <a:ext cx="5166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spc="220" cap="all">
                <a:solidFill>
                  <a:srgbClr val="5F564C"/>
                </a:solidFill>
                <a:latin typeface="Century Gothic"/>
              </a:rPr>
              <a:t>AI PASSPORT IDEATHON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88368" y="9491472"/>
            <a:ext cx="5166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spc="220" cap="all">
                <a:solidFill>
                  <a:srgbClr val="5F564C"/>
                </a:solidFill>
                <a:latin typeface="Century Gothic"/>
              </a:rPr>
              <a:t>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103120"/>
            <a:ext cx="162397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spc="240" cap="all">
                <a:solidFill>
                  <a:srgbClr val="6B6157"/>
                </a:solidFill>
                <a:latin typeface="Century Gothic"/>
              </a:rPr>
              <a:t>04  ·  How it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523744"/>
            <a:ext cx="1623974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3400" b="1" i="0" spc="-50">
                <a:solidFill>
                  <a:srgbClr val="3D3A3A"/>
                </a:solidFill>
                <a:latin typeface="Century Gothic"/>
              </a:rPr>
              <a:t>FOUR STEPS, AND ONE THING THAT CANNOT MOVE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" y="4114800"/>
            <a:ext cx="16239743" cy="960120"/>
          </a:xfrm>
          <a:prstGeom prst="roundRect">
            <a:avLst>
              <a:gd name="adj" fmla="val 3500"/>
            </a:avLst>
          </a:prstGeom>
          <a:solidFill>
            <a:srgbClr val="F8F3EC"/>
          </a:solidFill>
          <a:ln w="12700">
            <a:solidFill>
              <a:srgbClr val="D2C3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481328" y="432511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3D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81328" y="446227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EFE6DC"/>
                </a:solidFill>
                <a:latin typeface="Consola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50008" y="438912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 spc="-25">
                <a:solidFill>
                  <a:srgbClr val="3D3A3A"/>
                </a:solidFill>
                <a:latin typeface="Century Gothic"/>
              </a:rPr>
              <a:t>Diagnose once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4416552"/>
            <a:ext cx="892454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B6157"/>
                </a:solidFill>
                <a:latin typeface="Century Gothic"/>
              </a:rPr>
              <a:t>Entitlements become fields. The diagnosis stays at the clinic.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8" y="5212080"/>
            <a:ext cx="16239743" cy="960120"/>
          </a:xfrm>
          <a:prstGeom prst="roundRect">
            <a:avLst>
              <a:gd name="adj" fmla="val 3500"/>
            </a:avLst>
          </a:prstGeom>
          <a:solidFill>
            <a:srgbClr val="F8F3EC"/>
          </a:solidFill>
          <a:ln w="12700">
            <a:solidFill>
              <a:srgbClr val="D2C3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481328" y="542239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3D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81328" y="55595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EFE6DC"/>
                </a:solidFill>
                <a:latin typeface="Consola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50008" y="548640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 spc="-25">
                <a:solidFill>
                  <a:srgbClr val="3D3A3A"/>
                </a:solidFill>
                <a:latin typeface="Century Gothic"/>
              </a:rPr>
              <a:t>Request exact fields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90688" y="5513832"/>
            <a:ext cx="892454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B6157"/>
                </a:solidFill>
                <a:latin typeface="Century Gothic"/>
              </a:rPr>
              <a:t>Named fields, a stated purpose, a fixed duration.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4128" y="6309360"/>
            <a:ext cx="16239743" cy="960120"/>
          </a:xfrm>
          <a:prstGeom prst="roundRect">
            <a:avLst>
              <a:gd name="adj" fmla="val 3500"/>
            </a:avLst>
          </a:prstGeom>
          <a:solidFill>
            <a:srgbClr val="F8F3EC"/>
          </a:solidFill>
          <a:ln w="12700">
            <a:solidFill>
              <a:srgbClr val="D2C3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481328" y="651967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3D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81328" y="66568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EFE6DC"/>
                </a:solidFill>
                <a:latin typeface="Consola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50008" y="65836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 spc="-25">
                <a:solidFill>
                  <a:srgbClr val="3D3A3A"/>
                </a:solidFill>
                <a:latin typeface="Century Gothic"/>
              </a:rPr>
              <a:t>Approve, edit down, or deny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90688" y="6611112"/>
            <a:ext cx="892454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B6157"/>
                </a:solidFill>
                <a:latin typeface="Century Gothic"/>
              </a:rPr>
              <a:t>Asked for four fields, she grants two.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24128" y="7406640"/>
            <a:ext cx="16239743" cy="960120"/>
          </a:xfrm>
          <a:prstGeom prst="roundRect">
            <a:avLst>
              <a:gd name="adj" fmla="val 3500"/>
            </a:avLst>
          </a:prstGeom>
          <a:solidFill>
            <a:srgbClr val="F8F3EC"/>
          </a:solidFill>
          <a:ln w="12700">
            <a:solidFill>
              <a:srgbClr val="D2C3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481328" y="761695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3D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81328" y="77541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EFE6DC"/>
                </a:solidFill>
                <a:latin typeface="Consola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50008" y="768096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 spc="-25">
                <a:solidFill>
                  <a:srgbClr val="3D3A3A"/>
                </a:solidFill>
                <a:latin typeface="Century Gothic"/>
              </a:rPr>
              <a:t>Receipt and revoke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90688" y="7708392"/>
            <a:ext cx="892454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B6157"/>
                </a:solidFill>
                <a:latin typeface="Century Gothic"/>
              </a:rPr>
              <a:t>A resolvable pass, not a copy. Endable in one action.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4128" y="996696"/>
            <a:ext cx="5166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spc="220" cap="all">
                <a:solidFill>
                  <a:srgbClr val="5F564C"/>
                </a:solidFill>
                <a:latin typeface="Century Gothic"/>
              </a:rPr>
              <a:t>PAGE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88368" y="996696"/>
            <a:ext cx="5166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spc="220" cap="all">
                <a:solidFill>
                  <a:srgbClr val="5F564C"/>
                </a:solidFill>
                <a:latin typeface="Century Gothic"/>
              </a:rPr>
              <a:t>ENTITLE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9491472"/>
            <a:ext cx="5166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spc="220" cap="all">
                <a:solidFill>
                  <a:srgbClr val="5F564C"/>
                </a:solidFill>
                <a:latin typeface="Century Gothic"/>
              </a:rPr>
              <a:t>AI PASSPORT IDEATHON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88368" y="9491472"/>
            <a:ext cx="5166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spc="220" cap="all">
                <a:solidFill>
                  <a:srgbClr val="5F564C"/>
                </a:solidFill>
                <a:latin typeface="Century Gothic"/>
              </a:rPr>
              <a:t>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103120"/>
            <a:ext cx="162397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spc="240" cap="all">
                <a:solidFill>
                  <a:srgbClr val="6B6157"/>
                </a:solidFill>
                <a:latin typeface="Century Gothic"/>
              </a:rPr>
              <a:t>05  · 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523744"/>
            <a:ext cx="1623974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3400" b="1" i="0" spc="-50">
                <a:solidFill>
                  <a:srgbClr val="3D3A3A"/>
                </a:solidFill>
                <a:latin typeface="Century Gothic"/>
              </a:rPr>
              <a:t>THE PERSON DECIDES, EVERY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3273552"/>
            <a:ext cx="1623974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6B6157"/>
                </a:solidFill>
                <a:latin typeface="Century Gothic"/>
              </a:rPr>
              <a:t>Nothing moves until she approves it — and she can end it afterwards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4128" y="4206240"/>
            <a:ext cx="8229600" cy="4114800"/>
          </a:xfrm>
          <a:prstGeom prst="roundRect">
            <a:avLst>
              <a:gd name="adj" fmla="val 3500"/>
            </a:avLst>
          </a:prstGeom>
          <a:solidFill>
            <a:srgbClr val="F8F3EC"/>
          </a:solidFill>
          <a:ln w="12700">
            <a:solidFill>
              <a:srgbClr val="D2C3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91056" y="4617720"/>
            <a:ext cx="7132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 spc="-20">
                <a:solidFill>
                  <a:srgbClr val="3D3A3A"/>
                </a:solidFill>
                <a:latin typeface="Century Gothic"/>
              </a:rPr>
              <a:t>Northfield Group  ·  applicant system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91056" y="5120640"/>
            <a:ext cx="7132320" cy="13716"/>
          </a:xfrm>
          <a:prstGeom prst="rect">
            <a:avLst/>
          </a:prstGeom>
          <a:solidFill>
            <a:srgbClr val="D2C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91056" y="5477256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spc="180" cap="all">
                <a:solidFill>
                  <a:srgbClr val="5F564C"/>
                </a:solidFill>
                <a:latin typeface="Century Gothic"/>
              </a:rPr>
              <a:t>REQUESTS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0128" y="5440680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3D3A3A"/>
                </a:solidFill>
                <a:latin typeface="Consolas"/>
              </a:rPr>
              <a:t>4 fields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6025896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spc="180" cap="all">
                <a:solidFill>
                  <a:srgbClr val="5F564C"/>
                </a:solidFill>
                <a:latin typeface="Century Gothic"/>
              </a:rPr>
              <a:t>PURPOSE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0128" y="5989320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3D3A3A"/>
                </a:solidFill>
                <a:latin typeface="Consolas"/>
              </a:rPr>
              <a:t>Configure interview format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91056" y="6574536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spc="180" cap="all">
                <a:solidFill>
                  <a:srgbClr val="5F564C"/>
                </a:solidFill>
                <a:latin typeface="Century Gothic"/>
              </a:rPr>
              <a:t>DURATION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0128" y="6537960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3D3A3A"/>
                </a:solidFill>
                <a:latin typeface="Consolas"/>
              </a:rPr>
              <a:t>Expires on hiring decision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91056" y="7269480"/>
            <a:ext cx="2103120" cy="585216"/>
          </a:xfrm>
          <a:prstGeom prst="roundRect">
            <a:avLst>
              <a:gd name="adj" fmla="val 50000"/>
            </a:avLst>
          </a:prstGeom>
          <a:solidFill>
            <a:srgbClr val="3D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91056" y="7424927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EFE6DC"/>
                </a:solidFill>
                <a:latin typeface="Century Gothic"/>
              </a:rPr>
              <a:t>Approve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22776" y="7269480"/>
            <a:ext cx="2103120" cy="585216"/>
          </a:xfrm>
          <a:prstGeom prst="roundRect">
            <a:avLst>
              <a:gd name="adj" fmla="val 50000"/>
            </a:avLst>
          </a:prstGeom>
          <a:solidFill>
            <a:srgbClr val="8A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22776" y="7424927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entury Gothic"/>
              </a:rPr>
              <a:t>Edit request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4496" y="7269480"/>
            <a:ext cx="2103120" cy="585216"/>
          </a:xfrm>
          <a:prstGeom prst="roundRect">
            <a:avLst>
              <a:gd name="adj" fmla="val 50000"/>
            </a:avLst>
          </a:prstGeom>
          <a:solidFill>
            <a:srgbClr val="F8F3EC"/>
          </a:solidFill>
          <a:ln w="12700">
            <a:solidFill>
              <a:srgbClr val="D2C3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54496" y="7424927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3D3A3A"/>
                </a:solidFill>
                <a:latin typeface="Century Gothic"/>
              </a:rPr>
              <a:t>Deny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4434840"/>
            <a:ext cx="7223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 spc="-30">
                <a:solidFill>
                  <a:srgbClr val="3D3A3A"/>
                </a:solidFill>
                <a:latin typeface="Century Gothic"/>
              </a:rPr>
              <a:t>Purpose-bound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4892040"/>
            <a:ext cx="7223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6B6157"/>
                </a:solidFill>
                <a:latin typeface="Century Gothic"/>
              </a:rPr>
              <a:t>A pass for scheduling cannot be reused for onboarding.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5733288"/>
            <a:ext cx="7223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 spc="-30">
                <a:solidFill>
                  <a:srgbClr val="3D3A3A"/>
                </a:solidFill>
                <a:latin typeface="Century Gothic"/>
              </a:rPr>
              <a:t>Editable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6190488"/>
            <a:ext cx="7223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6B6157"/>
                </a:solidFill>
                <a:latin typeface="Century Gothic"/>
              </a:rPr>
              <a:t>She grants two of the four fields requested.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7031736"/>
            <a:ext cx="7223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 spc="-30">
                <a:solidFill>
                  <a:srgbClr val="3D3A3A"/>
                </a:solidFill>
                <a:latin typeface="Century Gothic"/>
              </a:rPr>
              <a:t>Revocable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7488936"/>
            <a:ext cx="7223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6B6157"/>
                </a:solidFill>
                <a:latin typeface="Century Gothic"/>
              </a:rPr>
              <a:t>One action, on the same screen as the evidence.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4128" y="996696"/>
            <a:ext cx="5166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spc="220" cap="all">
                <a:solidFill>
                  <a:srgbClr val="5F564C"/>
                </a:solidFill>
                <a:latin typeface="Century Gothic"/>
              </a:rPr>
              <a:t>PAGE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88368" y="996696"/>
            <a:ext cx="5166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spc="220" cap="all">
                <a:solidFill>
                  <a:srgbClr val="5F564C"/>
                </a:solidFill>
                <a:latin typeface="Century Gothic"/>
              </a:rPr>
              <a:t>ENTITLE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9491472"/>
            <a:ext cx="5166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spc="220" cap="all">
                <a:solidFill>
                  <a:srgbClr val="5F564C"/>
                </a:solidFill>
                <a:latin typeface="Century Gothic"/>
              </a:rPr>
              <a:t>AI PASSPORT IDEATHON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88368" y="9491472"/>
            <a:ext cx="5166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spc="220" cap="all">
                <a:solidFill>
                  <a:srgbClr val="5F564C"/>
                </a:solidFill>
                <a:latin typeface="Century Gothic"/>
              </a:rPr>
              <a:t>The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011680"/>
            <a:ext cx="162397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spc="240" cap="all">
                <a:solidFill>
                  <a:srgbClr val="6B6157"/>
                </a:solidFill>
                <a:latin typeface="Century Gothic"/>
              </a:rPr>
              <a:t>05  ·  The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432304"/>
            <a:ext cx="1623974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3400" b="1" i="0" spc="-50">
                <a:solidFill>
                  <a:srgbClr val="3D3A3A"/>
                </a:solidFill>
                <a:latin typeface="Century Gothic"/>
              </a:rPr>
              <a:t>ONE ASSESSMENT, MANY DOORS, NO DIAGNOSIS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3182112"/>
            <a:ext cx="1623974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6B6157"/>
                </a:solidFill>
                <a:latin typeface="Century Gothic"/>
              </a:rPr>
              <a:t>Every arrow is scoped, receipted and revocable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3931920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spc="180" cap="all">
                <a:solidFill>
                  <a:srgbClr val="5F564C"/>
                </a:solidFill>
                <a:latin typeface="Century Gothic"/>
              </a:rPr>
              <a:t>ISSUED ONCE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393192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spc="180" cap="all">
                <a:solidFill>
                  <a:srgbClr val="5F564C"/>
                </a:solidFill>
                <a:latin typeface="Century Gothic"/>
              </a:rPr>
              <a:t>RESOLVED PER REQUEST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75920" y="3931920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spc="180" cap="all">
                <a:solidFill>
                  <a:srgbClr val="5F564C"/>
                </a:solidFill>
                <a:latin typeface="Century Gothic"/>
              </a:rPr>
              <a:t>RECEIVED, SCOPED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24128" y="4846320"/>
            <a:ext cx="4023360" cy="1645920"/>
          </a:xfrm>
          <a:prstGeom prst="roundRect">
            <a:avLst>
              <a:gd name="adj" fmla="val 3500"/>
            </a:avLst>
          </a:prstGeom>
          <a:solidFill>
            <a:srgbClr val="242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35608" y="5138928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EFE6DC"/>
                </a:solidFill>
                <a:latin typeface="Century Gothic"/>
              </a:rPr>
              <a:t>Riverside</a:t>
            </a:r>
          </a:p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EFE6DC"/>
                </a:solidFill>
                <a:latin typeface="Century Gothic"/>
              </a:rPr>
              <a:t>Health Clinic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35608" y="5961888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A0968B"/>
                </a:solidFill>
                <a:latin typeface="Century Gothic"/>
              </a:rPr>
              <a:t>Diagnoses  ·  grants the accommodation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4480560"/>
            <a:ext cx="5120640" cy="2377440"/>
          </a:xfrm>
          <a:prstGeom prst="roundRect">
            <a:avLst>
              <a:gd name="adj" fmla="val 3500"/>
            </a:avLst>
          </a:prstGeom>
          <a:solidFill>
            <a:srgbClr val="F8F3EC"/>
          </a:solidFill>
          <a:ln w="12700">
            <a:solidFill>
              <a:srgbClr val="8A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4828032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 spc="200">
                <a:solidFill>
                  <a:srgbClr val="3D3A3A"/>
                </a:solidFill>
                <a:latin typeface="Century Gothic"/>
              </a:rPr>
              <a:t>ENTITLE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35240" y="5413248"/>
            <a:ext cx="2743200" cy="13716"/>
          </a:xfrm>
          <a:prstGeom prst="rect">
            <a:avLst/>
          </a:prstGeom>
          <a:solidFill>
            <a:srgbClr val="D2C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5669280"/>
            <a:ext cx="4572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50" b="0" i="0">
                <a:solidFill>
                  <a:srgbClr val="6E4E22"/>
                </a:solidFill>
                <a:latin typeface="Consolas"/>
              </a:rPr>
              <a:t>exact fields  ·  purpose  ·  duration</a:t>
            </a:r>
          </a:p>
          <a:p>
            <a:pPr algn="ctr">
              <a:lnSpc>
                <a:spcPct val="150000"/>
              </a:lnSpc>
            </a:pPr>
            <a:r>
              <a:rPr sz="1350" b="0" i="0">
                <a:solidFill>
                  <a:srgbClr val="6E4E22"/>
                </a:solidFill>
                <a:latin typeface="Consolas"/>
              </a:rPr>
              <a:t>approve  /  edit  /  deny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46520" y="7178040"/>
            <a:ext cx="5120640" cy="1051560"/>
          </a:xfrm>
          <a:prstGeom prst="roundRect">
            <a:avLst>
              <a:gd name="adj" fmla="val 3500"/>
            </a:avLst>
          </a:prstGeom>
          <a:solidFill>
            <a:srgbClr val="242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73883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 spc="220" cap="all">
                <a:solidFill>
                  <a:srgbClr val="C99C5C"/>
                </a:solidFill>
                <a:latin typeface="Century Gothic"/>
              </a:rPr>
              <a:t>VAULT  ·  SEALED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7726679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A0968B"/>
                </a:solidFill>
                <a:latin typeface="Consolas"/>
              </a:rPr>
              <a:t>diagnosis  ·  clinician  ·  medication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075920" y="4526280"/>
            <a:ext cx="4206240" cy="685800"/>
          </a:xfrm>
          <a:prstGeom prst="roundRect">
            <a:avLst>
              <a:gd name="adj" fmla="val 3500"/>
            </a:avLst>
          </a:prstGeom>
          <a:solidFill>
            <a:srgbClr val="F8F3EC"/>
          </a:solidFill>
          <a:ln w="12700">
            <a:solidFill>
              <a:srgbClr val="D2C3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441680" y="4727448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3D3A3A"/>
                </a:solidFill>
                <a:latin typeface="Century Gothic"/>
              </a:rPr>
              <a:t>Employer  ·  applicant system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11686032" y="4873752"/>
            <a:ext cx="1280160" cy="795528"/>
          </a:xfrm>
          <a:prstGeom prst="line">
            <a:avLst/>
          </a:prstGeom>
          <a:ln w="25400">
            <a:solidFill>
              <a:srgbClr val="8A653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3075920" y="5394960"/>
            <a:ext cx="4206240" cy="685800"/>
          </a:xfrm>
          <a:prstGeom prst="roundRect">
            <a:avLst>
              <a:gd name="adj" fmla="val 3500"/>
            </a:avLst>
          </a:prstGeom>
          <a:solidFill>
            <a:srgbClr val="F8F3EC"/>
          </a:solidFill>
          <a:ln w="12700">
            <a:solidFill>
              <a:srgbClr val="D2C3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441680" y="5596128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3D3A3A"/>
                </a:solidFill>
                <a:latin typeface="Century Gothic"/>
              </a:rPr>
              <a:t>Meridian Exam Board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1686032" y="5669280"/>
            <a:ext cx="1280160" cy="73152"/>
          </a:xfrm>
          <a:prstGeom prst="line">
            <a:avLst/>
          </a:prstGeom>
          <a:ln w="25400">
            <a:solidFill>
              <a:srgbClr val="8A653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3075920" y="6263640"/>
            <a:ext cx="4206240" cy="685800"/>
          </a:xfrm>
          <a:prstGeom prst="roundRect">
            <a:avLst>
              <a:gd name="adj" fmla="val 3500"/>
            </a:avLst>
          </a:prstGeom>
          <a:solidFill>
            <a:srgbClr val="F8F3EC"/>
          </a:solidFill>
          <a:ln w="12700">
            <a:solidFill>
              <a:srgbClr val="D2C3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441680" y="6464807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3D3A3A"/>
                </a:solidFill>
                <a:latin typeface="Century Gothic"/>
              </a:rPr>
              <a:t>Team scheduling assistant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1686032" y="5669280"/>
            <a:ext cx="1280160" cy="941832"/>
          </a:xfrm>
          <a:prstGeom prst="line">
            <a:avLst/>
          </a:prstGeom>
          <a:ln w="25400">
            <a:solidFill>
              <a:srgbClr val="8A653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166360" y="5669280"/>
            <a:ext cx="1161288" cy="0"/>
          </a:xfrm>
          <a:prstGeom prst="line">
            <a:avLst/>
          </a:prstGeom>
          <a:ln w="25400">
            <a:solidFill>
              <a:srgbClr val="8A653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074920" y="523036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 spc="100">
                <a:solidFill>
                  <a:srgbClr val="6E4E22"/>
                </a:solidFill>
                <a:latin typeface="Century Gothic"/>
              </a:rPr>
              <a:t>issues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006840" y="6876288"/>
            <a:ext cx="0" cy="283464"/>
          </a:xfrm>
          <a:prstGeom prst="line">
            <a:avLst/>
          </a:prstGeom>
          <a:ln w="25400">
            <a:solidFill>
              <a:srgbClr val="D2C3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024128" y="8851392"/>
            <a:ext cx="1623974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3D3A3A"/>
                </a:solidFill>
                <a:latin typeface="Century Gothic"/>
              </a:rPr>
              <a:t>The diagnosis has no outbound arrow. </a:t>
            </a:r>
            <a:r>
              <a:rPr sz="1700" b="0" i="0">
                <a:solidFill>
                  <a:srgbClr val="3D3A3A"/>
                </a:solidFill>
                <a:latin typeface="Century Gothic"/>
              </a:rPr>
              <a:t>It is not gated behind a stricter permission — it is </a:t>
            </a:r>
            <a:r>
              <a:rPr sz="1700" b="1" i="0">
                <a:solidFill>
                  <a:srgbClr val="3D3A3A"/>
                </a:solidFill>
                <a:highlight>
                  <a:srgbClr val="EDD9B4"/>
                </a:highlight>
                <a:latin typeface="Century Gothic"/>
              </a:rPr>
              <a:t>not requestable at any scope</a:t>
            </a:r>
            <a:r>
              <a:rPr sz="1700" b="0" i="0">
                <a:solidFill>
                  <a:srgbClr val="3D3A3A"/>
                </a:solidFill>
                <a:latin typeface="Century Gothic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4128" y="996696"/>
            <a:ext cx="5166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spc="220" cap="all">
                <a:solidFill>
                  <a:srgbClr val="5F564C"/>
                </a:solidFill>
                <a:latin typeface="Century Gothic"/>
              </a:rPr>
              <a:t>PAGE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88368" y="996696"/>
            <a:ext cx="5166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spc="220" cap="all">
                <a:solidFill>
                  <a:srgbClr val="5F564C"/>
                </a:solidFill>
                <a:latin typeface="Century Gothic"/>
              </a:rPr>
              <a:t>ENTITLE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9491472"/>
            <a:ext cx="5166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spc="220" cap="all">
                <a:solidFill>
                  <a:srgbClr val="5F564C"/>
                </a:solidFill>
                <a:latin typeface="Century Gothic"/>
              </a:rPr>
              <a:t>AI PASSPORT IDEATHON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88368" y="9491472"/>
            <a:ext cx="5166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spc="220" cap="all">
                <a:solidFill>
                  <a:srgbClr val="5F564C"/>
                </a:solidFill>
                <a:latin typeface="Century Gothic"/>
              </a:rPr>
              <a:t>Why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103120"/>
            <a:ext cx="162397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spc="240" cap="all">
                <a:solidFill>
                  <a:srgbClr val="6B6157"/>
                </a:solidFill>
                <a:latin typeface="Century Gothic"/>
              </a:rPr>
              <a:t>06  ·  Why this is a good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523744"/>
            <a:ext cx="1623974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3400" b="1" i="0" spc="-50">
                <a:solidFill>
                  <a:srgbClr val="3D3A3A"/>
                </a:solidFill>
                <a:latin typeface="Century Gothic"/>
              </a:rPr>
              <a:t>IT IS THE RUBRIC, RESTATED AS A PRODUCT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16052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 spc="100">
                <a:solidFill>
                  <a:srgbClr val="6E4E22"/>
                </a:solidFill>
                <a:latin typeface="Consola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457200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 spc="-35">
                <a:solidFill>
                  <a:srgbClr val="3D3A3A"/>
                </a:solidFill>
                <a:latin typeface="Century Gothic"/>
              </a:rPr>
              <a:t>Privacy is structural, not promised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24128" y="5212079"/>
            <a:ext cx="1463040" cy="20116"/>
          </a:xfrm>
          <a:prstGeom prst="rect">
            <a:avLst/>
          </a:prstGeom>
          <a:solidFill>
            <a:srgbClr val="8A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5440679"/>
            <a:ext cx="7315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50" b="0" i="0">
                <a:solidFill>
                  <a:srgbClr val="6B6157"/>
                </a:solidFill>
                <a:latin typeface="Century Gothic"/>
              </a:rPr>
              <a:t>There is no flow that discloses a diagnosis — so none can be coerced.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0" y="416052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 spc="100">
                <a:solidFill>
                  <a:srgbClr val="6E4E22"/>
                </a:solidFill>
                <a:latin typeface="Consola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457200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 spc="-35">
                <a:solidFill>
                  <a:srgbClr val="3D3A3A"/>
                </a:solidFill>
                <a:latin typeface="Century Gothic"/>
              </a:rPr>
              <a:t>Both sides want 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09760" y="5212079"/>
            <a:ext cx="1463040" cy="20116"/>
          </a:xfrm>
          <a:prstGeom prst="rect">
            <a:avLst/>
          </a:prstGeom>
          <a:solidFill>
            <a:srgbClr val="8A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0" y="5440679"/>
            <a:ext cx="7315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50" b="0" i="0">
                <a:solidFill>
                  <a:srgbClr val="6B6157"/>
                </a:solidFill>
                <a:latin typeface="Century Gothic"/>
              </a:rPr>
              <a:t>Institutions shed medical data they never wanted and cannot safely hold.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626364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 spc="100">
                <a:solidFill>
                  <a:srgbClr val="6E4E22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667512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 spc="-35">
                <a:solidFill>
                  <a:srgbClr val="3D3A3A"/>
                </a:solidFill>
                <a:latin typeface="Century Gothic"/>
              </a:rPr>
              <a:t>It cannot be anyone's database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24128" y="7315200"/>
            <a:ext cx="1463040" cy="20116"/>
          </a:xfrm>
          <a:prstGeom prst="rect">
            <a:avLst/>
          </a:prstGeom>
          <a:solidFill>
            <a:srgbClr val="8A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7543800"/>
            <a:ext cx="7315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50" b="0" i="0">
                <a:solidFill>
                  <a:srgbClr val="6B6157"/>
                </a:solidFill>
                <a:latin typeface="Century Gothic"/>
              </a:rPr>
              <a:t>The parties refuse to integrate. Only the person can carry 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626364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 spc="100">
                <a:solidFill>
                  <a:srgbClr val="6E4E22"/>
                </a:solidFill>
                <a:latin typeface="Consola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667512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 spc="-35">
                <a:solidFill>
                  <a:srgbClr val="3D3A3A"/>
                </a:solidFill>
                <a:latin typeface="Century Gothic"/>
              </a:rPr>
              <a:t>It is small enough to build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09760" y="7315200"/>
            <a:ext cx="1463040" cy="20116"/>
          </a:xfrm>
          <a:prstGeom prst="rect">
            <a:avLst/>
          </a:prstGeom>
          <a:solidFill>
            <a:srgbClr val="8A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0" y="7543800"/>
            <a:ext cx="7315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50" b="0" i="0">
                <a:solidFill>
                  <a:srgbClr val="6B6157"/>
                </a:solidFill>
                <a:latin typeface="Century Gothic"/>
              </a:rPr>
              <a:t>One corridor, three screens, useful with three participants.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4128" y="996696"/>
            <a:ext cx="5166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spc="220" cap="all">
                <a:solidFill>
                  <a:srgbClr val="5F564C"/>
                </a:solidFill>
                <a:latin typeface="Century Gothic"/>
              </a:rPr>
              <a:t>PAGE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88368" y="996696"/>
            <a:ext cx="5166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spc="220" cap="all">
                <a:solidFill>
                  <a:srgbClr val="5F564C"/>
                </a:solidFill>
                <a:latin typeface="Century Gothic"/>
              </a:rPr>
              <a:t>ENTITLE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9491472"/>
            <a:ext cx="5166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spc="220" cap="all">
                <a:solidFill>
                  <a:srgbClr val="5F564C"/>
                </a:solidFill>
                <a:latin typeface="Century Gothic"/>
              </a:rPr>
              <a:t>AI PASSPORT IDEATHON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88368" y="9491472"/>
            <a:ext cx="5166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spc="220" cap="all">
                <a:solidFill>
                  <a:srgbClr val="5F564C"/>
                </a:solidFill>
                <a:latin typeface="Century Gothic"/>
              </a:rPr>
              <a:t>Privacy &amp;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103120"/>
            <a:ext cx="162397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spc="240" cap="all">
                <a:solidFill>
                  <a:srgbClr val="6B6157"/>
                </a:solidFill>
                <a:latin typeface="Century Gothic"/>
              </a:rPr>
              <a:t>07  ·  Privacy &amp;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523744"/>
            <a:ext cx="1623974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3400" b="1" i="0" spc="-50">
                <a:solidFill>
                  <a:srgbClr val="3D3A3A"/>
                </a:solidFill>
                <a:latin typeface="Century Gothic"/>
              </a:rPr>
              <a:t>WHAT COULD GO WRONG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3273552"/>
            <a:ext cx="1623974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6B6157"/>
                </a:solidFill>
                <a:latin typeface="Century Gothic"/>
              </a:rPr>
              <a:t>A design that only lists its strengths has not been thought 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42976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spc="180" cap="all">
                <a:solidFill>
                  <a:srgbClr val="5F564C"/>
                </a:solidFill>
                <a:latin typeface="Century Gothic"/>
              </a:rPr>
              <a:t>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42976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spc="180" cap="all">
                <a:solidFill>
                  <a:srgbClr val="5F564C"/>
                </a:solidFill>
                <a:latin typeface="Century Gothic"/>
              </a:rPr>
              <a:t>HOW THE DESIGN REDUCES 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128" y="4663440"/>
            <a:ext cx="16239743" cy="13716"/>
          </a:xfrm>
          <a:prstGeom prst="rect">
            <a:avLst/>
          </a:prstGeom>
          <a:solidFill>
            <a:srgbClr val="D2C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81328" y="493776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3D3A3A"/>
                </a:solidFill>
                <a:latin typeface="Century Gothic"/>
              </a:rPr>
              <a:t>Inference from the field 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4965192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B6157"/>
                </a:solidFill>
                <a:latin typeface="Century Gothic"/>
              </a:rPr>
              <a:t>Requests are stage-scoped; the minimum set is the default.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24128" y="5468112"/>
            <a:ext cx="16239743" cy="13716"/>
          </a:xfrm>
          <a:prstGeom prst="rect">
            <a:avLst/>
          </a:prstGeom>
          <a:solidFill>
            <a:srgbClr val="E2D6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81328" y="5650992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3D3A3A"/>
                </a:solidFill>
                <a:latin typeface="Century Gothic"/>
              </a:rPr>
              <a:t>Coercive over-requesting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5678424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B6157"/>
                </a:solidFill>
                <a:latin typeface="Century Gothic"/>
              </a:rPr>
              <a:t>Purpose shown per field; over-asking is on record.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6181344"/>
            <a:ext cx="16239743" cy="13716"/>
          </a:xfrm>
          <a:prstGeom prst="rect">
            <a:avLst/>
          </a:prstGeom>
          <a:solidFill>
            <a:srgbClr val="E2D6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81328" y="6364224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3D3A3A"/>
                </a:solidFill>
                <a:latin typeface="Century Gothic"/>
              </a:rPr>
              <a:t>Retention after revocation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6391656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B6157"/>
                </a:solidFill>
                <a:latin typeface="Century Gothic"/>
              </a:rPr>
              <a:t>Made evidentially costly — not claimed impossible.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24128" y="6894576"/>
            <a:ext cx="16239743" cy="13716"/>
          </a:xfrm>
          <a:prstGeom prst="rect">
            <a:avLst/>
          </a:prstGeom>
          <a:solidFill>
            <a:srgbClr val="E2D6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81328" y="7077456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3D3A3A"/>
                </a:solidFill>
                <a:latin typeface="Century Gothic"/>
              </a:rPr>
              <a:t>Entitle as a honeypot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7104888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B6157"/>
                </a:solidFill>
                <a:latin typeface="Century Gothic"/>
              </a:rPr>
              <a:t>The Vault is on no request path. Breach yields no diagnoses.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24128" y="7607808"/>
            <a:ext cx="16239743" cy="13716"/>
          </a:xfrm>
          <a:prstGeom prst="rect">
            <a:avLst/>
          </a:prstGeom>
          <a:solidFill>
            <a:srgbClr val="E2D6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81328" y="7790688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3D3A3A"/>
                </a:solidFill>
                <a:latin typeface="Century Gothic"/>
              </a:rPr>
              <a:t>Exclusion by non-adoption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781812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B6157"/>
                </a:solidFill>
                <a:latin typeface="Century Gothic"/>
              </a:rPr>
              <a:t>v1 never replaces the existing route.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24128" y="8321040"/>
            <a:ext cx="16239743" cy="13716"/>
          </a:xfrm>
          <a:prstGeom prst="rect">
            <a:avLst/>
          </a:prstGeom>
          <a:solidFill>
            <a:srgbClr val="E2D6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4128" y="996696"/>
            <a:ext cx="5166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spc="220" cap="all">
                <a:solidFill>
                  <a:srgbClr val="A0968B"/>
                </a:solidFill>
                <a:latin typeface="Century Gothic"/>
              </a:rPr>
              <a:t>PAGE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88368" y="996696"/>
            <a:ext cx="5166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spc="220" cap="all">
                <a:solidFill>
                  <a:srgbClr val="A0968B"/>
                </a:solidFill>
                <a:latin typeface="Century Gothic"/>
              </a:rPr>
              <a:t>ENTITLE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9491472"/>
            <a:ext cx="5166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spc="220" cap="all">
                <a:solidFill>
                  <a:srgbClr val="A0968B"/>
                </a:solidFill>
                <a:latin typeface="Century Gothic"/>
              </a:rPr>
              <a:t>AI PASSPORT IDEATHON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88368" y="9491472"/>
            <a:ext cx="5166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spc="220" cap="all">
                <a:solidFill>
                  <a:srgbClr val="A0968B"/>
                </a:solidFill>
                <a:latin typeface="Century Gothic"/>
              </a:rPr>
              <a:t>First version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286000"/>
            <a:ext cx="162397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spc="240" cap="all">
                <a:solidFill>
                  <a:srgbClr val="C99C5C"/>
                </a:solidFill>
                <a:latin typeface="Century Gothic"/>
              </a:rPr>
              <a:t>08  ·  THE FIRST VERSION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743200"/>
            <a:ext cx="14630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 spc="-80">
                <a:solidFill>
                  <a:srgbClr val="EFE6DC"/>
                </a:solidFill>
                <a:latin typeface="Century Gothic"/>
              </a:rPr>
              <a:t>ONE CORRIDOR, ONE DIRECTION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3794760"/>
            <a:ext cx="1371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B8AEA3"/>
                </a:solidFill>
                <a:latin typeface="Century Gothic"/>
              </a:rPr>
              <a:t>Prove that one clinical assessment can serve two institutions without either of them learning a diagnosis.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4128" y="4709160"/>
            <a:ext cx="4434840" cy="2011680"/>
          </a:xfrm>
          <a:prstGeom prst="roundRect">
            <a:avLst>
              <a:gd name="adj" fmla="val 3500"/>
            </a:avLst>
          </a:prstGeom>
          <a:solidFill>
            <a:srgbClr val="32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35608" y="5029200"/>
            <a:ext cx="36118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spc="100">
                <a:solidFill>
                  <a:srgbClr val="C99C5C"/>
                </a:solidFill>
                <a:latin typeface="Consola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8" y="5394960"/>
            <a:ext cx="36118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 spc="-30">
                <a:solidFill>
                  <a:srgbClr val="EFE6DC"/>
                </a:solidFill>
                <a:latin typeface="Century Gothic"/>
              </a:rPr>
              <a:t>Issue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35608" y="5943600"/>
            <a:ext cx="361187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A89E93"/>
                </a:solidFill>
                <a:latin typeface="Century Gothic"/>
              </a:rPr>
              <a:t>A clinic turns a diagnosis into a portable pass.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31152" y="4709160"/>
            <a:ext cx="4434840" cy="2011680"/>
          </a:xfrm>
          <a:prstGeom prst="roundRect">
            <a:avLst>
              <a:gd name="adj" fmla="val 3500"/>
            </a:avLst>
          </a:prstGeom>
          <a:solidFill>
            <a:srgbClr val="32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42631" y="5029200"/>
            <a:ext cx="36118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spc="100">
                <a:solidFill>
                  <a:srgbClr val="C99C5C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42631" y="5394960"/>
            <a:ext cx="36118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 spc="-30">
                <a:solidFill>
                  <a:srgbClr val="EFE6DC"/>
                </a:solidFill>
                <a:latin typeface="Century Gothic"/>
              </a:rPr>
              <a:t>Request &amp; edit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42631" y="5943600"/>
            <a:ext cx="361187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A89E93"/>
                </a:solidFill>
                <a:latin typeface="Century Gothic"/>
              </a:rPr>
              <a:t>An employer asks; she grants a subset.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29032" y="4709160"/>
            <a:ext cx="4434840" cy="2011680"/>
          </a:xfrm>
          <a:prstGeom prst="roundRect">
            <a:avLst>
              <a:gd name="adj" fmla="val 3500"/>
            </a:avLst>
          </a:prstGeom>
          <a:solidFill>
            <a:srgbClr val="32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240511" y="5029200"/>
            <a:ext cx="36118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spc="100">
                <a:solidFill>
                  <a:srgbClr val="C99C5C"/>
                </a:solidFill>
                <a:latin typeface="Consola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40511" y="5394960"/>
            <a:ext cx="36118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 spc="-30">
                <a:solidFill>
                  <a:srgbClr val="EFE6DC"/>
                </a:solidFill>
                <a:latin typeface="Century Gothic"/>
              </a:rPr>
              <a:t>Receipt &amp; revoke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40511" y="5943600"/>
            <a:ext cx="361187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A89E93"/>
                </a:solidFill>
                <a:latin typeface="Century Gothic"/>
              </a:rPr>
              <a:t>Every read listed; any pass endable.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24128" y="7269480"/>
            <a:ext cx="16239743" cy="9144"/>
          </a:xfrm>
          <a:prstGeom prst="rect">
            <a:avLst/>
          </a:prstGeom>
          <a:solidFill>
            <a:srgbClr val="4A4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" y="7543800"/>
            <a:ext cx="1591055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800" b="1" i="0">
                <a:solidFill>
                  <a:srgbClr val="C99C5C"/>
                </a:solidFill>
                <a:latin typeface="Century Gothic"/>
              </a:rPr>
              <a:t>Why not a database?  </a:t>
            </a:r>
            <a:r>
              <a:rPr sz="1800" b="0" i="0">
                <a:solidFill>
                  <a:srgbClr val="C4BAAE"/>
                </a:solidFill>
                <a:latin typeface="Century Gothic"/>
              </a:rPr>
              <a:t>A university will not hand medical records to an employer's vendor.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800" b="0" i="0">
                <a:solidFill>
                  <a:srgbClr val="C4BAAE"/>
                </a:solidFill>
                <a:latin typeface="Century Gothic"/>
              </a:rPr>
              <a:t>The only party with standing to carry this is </a:t>
            </a:r>
            <a:r>
              <a:rPr sz="1800" b="1" i="0">
                <a:solidFill>
                  <a:srgbClr val="EFE6DC"/>
                </a:solidFill>
                <a:highlight>
                  <a:srgbClr val="4A3A22"/>
                </a:highlight>
                <a:latin typeface="Century Gothic"/>
              </a:rPr>
              <a:t>the person it describes</a:t>
            </a:r>
            <a:r>
              <a:rPr sz="1800" b="0" i="0">
                <a:solidFill>
                  <a:srgbClr val="C4BAAE"/>
                </a:solidFill>
                <a:latin typeface="Century Gothic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0" y="2286000"/>
            <a:ext cx="1371600" cy="1371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4069080"/>
            <a:ext cx="182880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600" b="1" i="0" spc="220">
                <a:solidFill>
                  <a:srgbClr val="3D3A3A"/>
                </a:solidFill>
                <a:latin typeface="Century Gothic"/>
              </a:rP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7680960" y="5623560"/>
            <a:ext cx="2926080" cy="13716"/>
          </a:xfrm>
          <a:prstGeom prst="rect">
            <a:avLst/>
          </a:prstGeom>
          <a:solidFill>
            <a:srgbClr val="D2C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6035040"/>
            <a:ext cx="18288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3D3A3A"/>
                </a:solidFill>
                <a:latin typeface="Century Gothic"/>
              </a:rPr>
              <a:t>Prove what is necessary. </a:t>
            </a:r>
            <a:r>
              <a:rPr sz="2400" b="0" i="0">
                <a:solidFill>
                  <a:srgbClr val="3D3A3A"/>
                </a:solidFill>
                <a:highlight>
                  <a:srgbClr val="EDD9B4"/>
                </a:highlight>
                <a:latin typeface="Century Gothic"/>
              </a:rPr>
              <a:t>Not everything about the person.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949440"/>
            <a:ext cx="1828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0" i="0">
                <a:solidFill>
                  <a:srgbClr val="6B6157"/>
                </a:solidFill>
                <a:latin typeface="Century Gothic"/>
              </a:rPr>
              <a:t>Entitle  ·  Carry the entitlement. Never the diagnosis.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8458200"/>
            <a:ext cx="1828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 spc="300" cap="all">
                <a:solidFill>
                  <a:srgbClr val="6E4E22"/>
                </a:solidFill>
                <a:latin typeface="Century Gothic"/>
              </a:rPr>
              <a:t>TRACK: WORK   ·   LANE: BUILD   ·   LIVE PROTOTYPE AVAILABLE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